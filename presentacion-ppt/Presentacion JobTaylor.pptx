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Gelasio" panose="020B0604020202020204" charset="0"/>
      <p:regular r:id="rId13"/>
    </p:embeddedFont>
    <p:embeddedFont>
      <p:font typeface="Lato" panose="020F0502020204030203" pitchFamily="34" charset="0"/>
      <p:regular r:id="rId14"/>
      <p:bold r:id="rId15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042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JobTaylor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Una aplicación web que adapta tu CV a cada oferta de empleo usando inteligencia artificial — sin inventar experiencia, sin comprometer tu autenticidad.</a:t>
            </a:r>
            <a:endParaRPr lang="en-US" sz="1750" dirty="0"/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974CC63C-D14E-2530-13EF-BA22D5329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94" y="1452545"/>
            <a:ext cx="4993795" cy="53245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99877DF-C28B-50B7-2087-182C842AAAFD}"/>
              </a:ext>
            </a:extLst>
          </p:cNvPr>
          <p:cNvSpPr/>
          <p:nvPr/>
        </p:nvSpPr>
        <p:spPr>
          <a:xfrm>
            <a:off x="12268200" y="7620000"/>
            <a:ext cx="2362200" cy="609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9008"/>
            <a:ext cx="63306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El problema que resuelve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9638943" y="1914763"/>
            <a:ext cx="42051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El reto de la búsqueda de empleo moderna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850237"/>
            <a:ext cx="420516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Cada oferta es diferente. Adaptar el CV manualmente para cada una es tedioso, propenso a errores y consume horas valiosas. Las herramientas de IA existentes a menudo </a:t>
            </a: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inventan experiencia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generando CVs que no reflejan la realidad del candidato.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9638943" y="5645706"/>
            <a:ext cx="4205168" cy="1689616"/>
          </a:xfrm>
          <a:prstGeom prst="roundRect">
            <a:avLst>
              <a:gd name="adj" fmla="val 5638"/>
            </a:avLst>
          </a:prstGeom>
          <a:solidFill>
            <a:srgbClr val="DCDCD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757" y="5997416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76059" y="5929193"/>
            <a:ext cx="324123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JobTaylor reescribe y reordena tu CV real — nunca fabrica lo que no tienes.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B06FBC-6BDA-E366-9E5F-58C68946C2A4}"/>
              </a:ext>
            </a:extLst>
          </p:cNvPr>
          <p:cNvSpPr/>
          <p:nvPr/>
        </p:nvSpPr>
        <p:spPr>
          <a:xfrm>
            <a:off x="12268200" y="7772400"/>
            <a:ext cx="2362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52" name="Picture 4" descr="From Rejected to Recruited: 40 CV/Resume Mistakes You Can't Afford to Make">
            <a:extLst>
              <a:ext uri="{FF2B5EF4-FFF2-40B4-BE49-F238E27FC236}">
                <a16:creationId xmlns:a16="http://schemas.microsoft.com/office/drawing/2014/main" id="{0BB8995C-CB18-7FF2-1C93-3CA2406D6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84" y="2141101"/>
            <a:ext cx="8669867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7427"/>
            <a:ext cx="76919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Flujo principal de la aplicación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79834"/>
            <a:ext cx="13042821" cy="34512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99781" y="3646774"/>
            <a:ext cx="1971578" cy="35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Crear CV Base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99781" y="4100199"/>
            <a:ext cx="1971578" cy="564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Registrar experiencia real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059064" y="3745617"/>
            <a:ext cx="1971578" cy="35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Buscar Ofertas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059064" y="4199043"/>
            <a:ext cx="1971578" cy="5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Consultar ofertas reales (Adzuna)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318348" y="3646774"/>
            <a:ext cx="1971578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Lanzar Tailoring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318348" y="4453213"/>
            <a:ext cx="1971578" cy="5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Personalizar con IA asistente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577631" y="3745617"/>
            <a:ext cx="1971578" cy="35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Descargar CV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577631" y="4199043"/>
            <a:ext cx="1971578" cy="5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Exportar en PDF o DOCX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849466" y="3646774"/>
            <a:ext cx="1971577" cy="35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Historial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849466" y="4100199"/>
            <a:ext cx="1971577" cy="564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Revisar CVs generados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93790" y="618624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flujo está diseñado para ser lineal y sin fricción. El usuario tiene el control en cada paso, y la IA actúa como asistente — nunca como autor.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15F2E5-212F-CBC9-799B-77883877D4FE}"/>
              </a:ext>
            </a:extLst>
          </p:cNvPr>
          <p:cNvSpPr/>
          <p:nvPr/>
        </p:nvSpPr>
        <p:spPr>
          <a:xfrm>
            <a:off x="12268200" y="7791450"/>
            <a:ext cx="23622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62526"/>
            <a:ext cx="2229326" cy="426244"/>
          </a:xfrm>
          <a:prstGeom prst="roundRect">
            <a:avLst>
              <a:gd name="adj" fmla="val 17880"/>
            </a:avLst>
          </a:prstGeom>
          <a:solidFill>
            <a:srgbClr val="E8E8E3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30511"/>
            <a:ext cx="195714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INTERFAZ DE USUARIO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794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Pantallas principales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9" y="2388275"/>
            <a:ext cx="5502235" cy="34005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 3"/>
          <p:cNvSpPr/>
          <p:nvPr/>
        </p:nvSpPr>
        <p:spPr>
          <a:xfrm>
            <a:off x="793790" y="58507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Modo Claro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34115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Interfaz limpia y accesible para el inicio de sesión.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392205"/>
            <a:ext cx="5502234" cy="34005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6884" y="58507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Modo Oscuro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6884" y="634115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Soporte completo de tema oscuro con persistencia de preferencia.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E8C36C-345E-BED1-A5AA-9527B5386624}"/>
              </a:ext>
            </a:extLst>
          </p:cNvPr>
          <p:cNvSpPr/>
          <p:nvPr/>
        </p:nvSpPr>
        <p:spPr>
          <a:xfrm>
            <a:off x="12268200" y="7686674"/>
            <a:ext cx="2362200" cy="542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81075"/>
            <a:ext cx="2165152" cy="426244"/>
          </a:xfrm>
          <a:prstGeom prst="roundRect">
            <a:avLst>
              <a:gd name="adj" fmla="val 17880"/>
            </a:avLst>
          </a:prstGeom>
          <a:solidFill>
            <a:srgbClr val="E8E8E3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49060"/>
            <a:ext cx="189297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 BASE Y BÚSQUEDA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98044"/>
            <a:ext cx="92759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Gestión del CV y búsqueda de ofertas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56692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Importar CV Base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159698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Sube tu CV en PDF, DOCX o texto plano. El proxy analiza el contenido con Gemini e infiere la estructura JSON automáticamente.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456884" y="5669280"/>
            <a:ext cx="34778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Búsqueda de Ofertas Reales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6884" y="6159698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Búsqueda real via Adzuna API con filtros por palabras clave, modalidad remota y ubicación. Infinite scroll con paginación automática. Enriquecimiento de ofertas con Tavily + Gemini.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8D6055-9C65-3B7B-A4F7-B71C5CF96D55}"/>
              </a:ext>
            </a:extLst>
          </p:cNvPr>
          <p:cNvSpPr/>
          <p:nvPr/>
        </p:nvSpPr>
        <p:spPr>
          <a:xfrm>
            <a:off x="12268200" y="7658100"/>
            <a:ext cx="2362200" cy="571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2D40F9-A1E6-1948-74C0-4F532C0F9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73" y="2342911"/>
            <a:ext cx="6653628" cy="32615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E8F02D-4597-953A-96D2-96DC503C8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774" y="2324683"/>
            <a:ext cx="6653628" cy="32798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62526"/>
            <a:ext cx="2307908" cy="426244"/>
          </a:xfrm>
          <a:prstGeom prst="roundRect">
            <a:avLst>
              <a:gd name="adj" fmla="val 17880"/>
            </a:avLst>
          </a:prstGeom>
          <a:solidFill>
            <a:srgbClr val="E8E8E3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30511"/>
            <a:ext cx="203573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CV EDITOR E HISTORIAL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79496"/>
            <a:ext cx="77267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Edición, vista previa e historial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58507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Editor Estructurado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34115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Edición completa del CV: experiencia, educación, skills, idiomas y enlaces. Vista previa en tiempo real.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456884" y="58507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Historial de CVs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6884" y="634115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Seguimiento de todos los CVs generados con estados (guardado, generando, en cola, exportado) y filtros avanzados.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48D1BA-ACEC-E991-6800-B29C2EB9C406}"/>
              </a:ext>
            </a:extLst>
          </p:cNvPr>
          <p:cNvSpPr/>
          <p:nvPr/>
        </p:nvSpPr>
        <p:spPr>
          <a:xfrm>
            <a:off x="12268200" y="7705724"/>
            <a:ext cx="2362200" cy="52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6CD15E-6844-A2C4-5F9E-4E23F401C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91" y="2431669"/>
            <a:ext cx="6818152" cy="33662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D72DF8-5197-7C50-FB58-CC6E06CAE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797" y="2431669"/>
            <a:ext cx="6812674" cy="33662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767239"/>
            <a:ext cx="71467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El motor de Tailoring con IA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816179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1816179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073473"/>
            <a:ext cx="28439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Reescritura inteligente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2563892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IA recibe el CV en JSON y la descripción de la oferta. Reordena y reescribe para maximizar la relevancia percibida.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3773805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49710" y="3773805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0" name="Text 7"/>
          <p:cNvSpPr/>
          <p:nvPr/>
        </p:nvSpPr>
        <p:spPr>
          <a:xfrm>
            <a:off x="662892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Guardrails estrictos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28924" y="4521517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Nunca inventa experiencia, títulos, fechas ni certificaciones. Si existe un gap, lo señala — no lo oculta.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731431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49710" y="5731431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4" name="Text 11"/>
          <p:cNvSpPr/>
          <p:nvPr/>
        </p:nvSpPr>
        <p:spPr>
          <a:xfrm>
            <a:off x="6628924" y="5988725"/>
            <a:ext cx="32005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Cola de generación global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8924" y="6479143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 pueden encolar múltiples tailorings simultáneos. Procesamiento asincrónico con soporte para múltiples solicitudes en paralelo.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F5F2D5-2AD9-E237-EFFA-AEA0CD00C67F}"/>
              </a:ext>
            </a:extLst>
          </p:cNvPr>
          <p:cNvSpPr/>
          <p:nvPr/>
        </p:nvSpPr>
        <p:spPr>
          <a:xfrm>
            <a:off x="12268200" y="7791450"/>
            <a:ext cx="2362200" cy="438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6" name="Picture 2" descr="Google Gemini">
            <a:extLst>
              <a:ext uri="{FF2B5EF4-FFF2-40B4-BE49-F238E27FC236}">
                <a16:creationId xmlns:a16="http://schemas.microsoft.com/office/drawing/2014/main" id="{212F60ED-496F-42EC-1D49-AD2E79382E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1" r="27792"/>
          <a:stretch/>
        </p:blipFill>
        <p:spPr bwMode="auto">
          <a:xfrm>
            <a:off x="195738" y="316910"/>
            <a:ext cx="5796678" cy="759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75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Stack tecnológico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79965"/>
            <a:ext cx="6407944" cy="1821180"/>
          </a:xfrm>
          <a:prstGeom prst="roundRect">
            <a:avLst>
              <a:gd name="adj" fmla="val 523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8143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30481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React 19 + TypeScript + Vite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3803809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Tailwind CSS v4 · shadcn/ui · Radix UI · React Router v7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79965"/>
            <a:ext cx="6408063" cy="1821180"/>
          </a:xfrm>
          <a:prstGeom prst="roundRect">
            <a:avLst>
              <a:gd name="adj" fmla="val 523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982" y="28143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 &amp; Auth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2982" y="330481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Supabase (Auth + PostgreSQL + RLS)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62982" y="3803809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Express proxy para Gemini y Tavily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627959"/>
            <a:ext cx="6407944" cy="2184083"/>
          </a:xfrm>
          <a:prstGeom prst="roundRect">
            <a:avLst>
              <a:gd name="adj" fmla="val 436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224" y="4862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IA &amp; Exportación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28224" y="5352812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Google Gemini (gemini-3.1-flash-lite-preview) · Tavily API · Adzuna API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28224" y="6214705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jsPDF · docx — generación 100% client-side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627959"/>
            <a:ext cx="6408063" cy="2184083"/>
          </a:xfrm>
          <a:prstGeom prst="roundRect">
            <a:avLst>
              <a:gd name="adj" fmla="val 436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4862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Calidad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35281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Vitest + Testing Library · Playwright E2E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662982" y="5851803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ESLint · Prettier · Husky pre-commit/pre-push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E7D21F-1E1C-E58E-9262-BBE43F5BBAB4}"/>
              </a:ext>
            </a:extLst>
          </p:cNvPr>
          <p:cNvSpPr/>
          <p:nvPr/>
        </p:nvSpPr>
        <p:spPr>
          <a:xfrm>
            <a:off x="12268200" y="7743824"/>
            <a:ext cx="2362200" cy="485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2746" y="917377"/>
            <a:ext cx="10966847" cy="57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Arquitectura: Clean Architecture con Ports &amp; Adapters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46" y="1874401"/>
            <a:ext cx="8037195" cy="3678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00031" y="2357999"/>
            <a:ext cx="1869406" cy="22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Capa de Infraestructura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900031" y="2643454"/>
            <a:ext cx="1959660" cy="32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Adaptadores: Supabase, Gemini, Tavily, Adzuna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26501" y="3566983"/>
            <a:ext cx="1777917" cy="22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Capa de Aplicación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02795" y="3852437"/>
            <a:ext cx="1801622" cy="32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Casos de uso que orquestan el dominio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00031" y="4271359"/>
            <a:ext cx="1777918" cy="22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Núcleo: Dominio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00031" y="4556813"/>
            <a:ext cx="1959660" cy="16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Lógica pura e independiente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503093" y="2977158"/>
            <a:ext cx="2283500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Principios de diseño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503093" y="3409593"/>
            <a:ext cx="4122063" cy="105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Cada feature sigue la estructura </a:t>
            </a:r>
            <a:r>
              <a:rPr lang="en-US" sz="14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domain / application / ui</a:t>
            </a: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La capa de dominio es completamente agnóstica: sin React, sin Supabase, sin librerías externas.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89886" y="5860733"/>
            <a:ext cx="45720" cy="1474232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3" name="Text 10"/>
          <p:cNvSpPr/>
          <p:nvPr/>
        </p:nvSpPr>
        <p:spPr>
          <a:xfrm>
            <a:off x="1241108" y="5883593"/>
            <a:ext cx="2283500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Independencia total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241108" y="6257211"/>
            <a:ext cx="3850719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Los casos de uso se testean con repositorios in-memory, sin red.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252799" y="5860733"/>
            <a:ext cx="45720" cy="1474232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6" name="Text 13"/>
          <p:cNvSpPr/>
          <p:nvPr/>
        </p:nvSpPr>
        <p:spPr>
          <a:xfrm>
            <a:off x="5504021" y="5883593"/>
            <a:ext cx="2283500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Intercambiabilidad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5504021" y="6257211"/>
            <a:ext cx="3850719" cy="79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Los adaptadores implementan puertos intercambiables — se pueden reemplazar sin tocar la lógica de dominio.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515713" y="5860733"/>
            <a:ext cx="45720" cy="1474232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9" name="Text 16"/>
          <p:cNvSpPr/>
          <p:nvPr/>
        </p:nvSpPr>
        <p:spPr>
          <a:xfrm>
            <a:off x="9766935" y="5883593"/>
            <a:ext cx="3428881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Desarrollo guiado por tests (TDD)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9766935" y="6257211"/>
            <a:ext cx="3850719" cy="1054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desarrollo de dominio y aplicación sigue TDD: cada comportamiento se especifica primero como test antes de implementarse. Garantiza calidad y documentación viva del código.</a:t>
            </a:r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24164A-01A4-9513-7DC6-5620389265FA}"/>
              </a:ext>
            </a:extLst>
          </p:cNvPr>
          <p:cNvSpPr/>
          <p:nvPr/>
        </p:nvSpPr>
        <p:spPr>
          <a:xfrm>
            <a:off x="12268200" y="7753350"/>
            <a:ext cx="2362200" cy="476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7333" y="1275993"/>
            <a:ext cx="6914078" cy="506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Autenticación y Funcionalidades Clave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567333" y="1956316"/>
            <a:ext cx="8009334" cy="1329214"/>
          </a:xfrm>
          <a:prstGeom prst="roundRect">
            <a:avLst>
              <a:gd name="adj" fmla="val 5123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6997" y="2125980"/>
            <a:ext cx="2026563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Autenticación Segura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36997" y="2448639"/>
            <a:ext cx="7670006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Registro e inicio de sesión con email y contraseña. Validación OWASP: mínimo 12 caracteres, mayúsculas, minúsculas, números y caracteres especiales. Rate limiting: 3 intentos fallidos = bloqueo de 60 segundos. Row Level Security (RLS) en Supabase.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67333" y="3401378"/>
            <a:ext cx="8009334" cy="1106805"/>
          </a:xfrm>
          <a:prstGeom prst="roundRect">
            <a:avLst>
              <a:gd name="adj" fmla="val 615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6997" y="3571042"/>
            <a:ext cx="2026563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Exportación Flexible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36997" y="3893701"/>
            <a:ext cx="7670006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Descarga del CV adaptado en PDF, DOCX o Markdown. Generación 100% client-side sin servidor adicional. Tres plantillas visuales: modern, classic y minimal. Soporte para foto de perfil opcional.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7333" y="4624030"/>
            <a:ext cx="8009334" cy="1106805"/>
          </a:xfrm>
          <a:prstGeom prst="roundRect">
            <a:avLst>
              <a:gd name="adj" fmla="val 615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6997" y="4793694"/>
            <a:ext cx="2026563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Internacionalización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36997" y="5116354"/>
            <a:ext cx="7670006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Interfaz completamente disponible en Español e Inglés. El cambio de idioma en Settings actualiza la UI al instante sin recargar la página.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7333" y="5846683"/>
            <a:ext cx="8009334" cy="1106805"/>
          </a:xfrm>
          <a:prstGeom prst="roundRect">
            <a:avLst>
              <a:gd name="adj" fmla="val 615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6997" y="6016347"/>
            <a:ext cx="2092047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Ajustes Personalizables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36997" y="6339007"/>
            <a:ext cx="7670006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Idioma de salida, plantilla de CV, nivel de fidelidad (slider 0-100%), formato de exportación por defecto, y subida/recorte de foto de perfil.</a:t>
            </a:r>
            <a:endParaRPr lang="en-US" sz="12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F93F23-B240-EE38-FB58-4CD5145FDEFA}"/>
              </a:ext>
            </a:extLst>
          </p:cNvPr>
          <p:cNvSpPr/>
          <p:nvPr/>
        </p:nvSpPr>
        <p:spPr>
          <a:xfrm>
            <a:off x="12268200" y="7410450"/>
            <a:ext cx="2362200" cy="819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94219138-AF93-B2A0-F2A3-9B9A58623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669" y="1676264"/>
            <a:ext cx="4993795" cy="53245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771</Words>
  <Application>Microsoft Office PowerPoint</Application>
  <PresentationFormat>Custom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Lato</vt:lpstr>
      <vt:lpstr>Gelasio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MSI</cp:lastModifiedBy>
  <cp:revision>4</cp:revision>
  <dcterms:created xsi:type="dcterms:W3CDTF">2026-03-08T12:57:57Z</dcterms:created>
  <dcterms:modified xsi:type="dcterms:W3CDTF">2026-03-09T09:00:05Z</dcterms:modified>
</cp:coreProperties>
</file>